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 introduction. Overview of the 3-part case study covering Next.js baseline analysis, architectural evolution in Part 2, and 4-language implementation in Part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 statement and 3-phase methodology overview. Emphasizes moving from procedural web framework code to extensible GoF design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Overview of Next.js + Appwrite stack and original procedural workflow. Identifies direct SDK coupling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1 empirical audit results. Emphasizes that 0 classical GoF patterns were present in baseline, distinguishing pattern-like constructs from refactoring opportunities.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insights on why human code audit is essential to eliminate LLM false positives.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2 evolution overview describing CH01 (Adapter), CH02 (Strategy), and CH03 (Observer).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Comparison of procedural baseline architecture versus extensible GoF pattern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Empirical verification results for Part 2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Cross-language implementation overview comparing Java, Python, JavaScript, and C++ abstractions.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Empirical dataset summary covering 28 implementations, LOC, Lizard cyclomatic complexity, toolchains, and execution timings.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Discussion of architectural trade-offs, decoupling benefits, and role of AI in design pattern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Team contributions, repository references, and closing Q&amp;A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03520"/>
          </a:xfrm>
          <a:prstGeom prst="roundRect">
            <a:avLst/>
          </a:prstGeom>
          <a:solidFill>
            <a:srgbClr val="131F3E"/>
          </a:solidFill>
          <a:ln w="19050">
            <a:solidFill>
              <a:srgbClr val="2B41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457200"/>
          <a:lstStyle/>
          <a:p>
            <a:pPr algn="ctr">
              <a:defRPr sz="1400" b="1">
                <a:solidFill>
                  <a:srgbClr val="00B4D8"/>
                </a:solidFill>
              </a:defRPr>
            </a:pPr>
            <a:r>
              <a:t>DESIGN PATTERNS CASE STUDY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Healthcare Doctor Appointment Management System</a:t>
            </a:r>
          </a:p>
          <a:p>
            <a:pPr>
              <a:defRPr sz="1800">
                <a:solidFill>
                  <a:srgbClr val="FFB703"/>
                </a:solidFill>
              </a:defRPr>
            </a:pPr>
            <a:r>
              <a:t>AI-Assisted Discovery, Architectural Evolution &amp; 4-Language Empirical Analysis</a:t>
            </a:r>
          </a:p>
          <a:p/>
          <a:p>
            <a:pPr>
              <a:defRPr sz="1300" b="1">
                <a:solidFill>
                  <a:srgbClr val="FFFFFF"/>
                </a:solidFill>
              </a:defRPr>
            </a:pPr>
            <a:r>
              <a:t>Course: 23CSE455 — Software Design Patterns    |    Team: B2</a:t>
            </a:r>
          </a:p>
          <a:p>
            <a:pPr>
              <a:defRPr sz="1100">
                <a:solidFill>
                  <a:srgbClr val="8D99AE"/>
                </a:solidFill>
              </a:defRPr>
            </a:pPr>
            <a:r>
              <a:t>Original Repository: arnobt78/HealthCare-Doctor-Appointment-Management-System (Commit f846cd4)</a:t>
            </a:r>
          </a:p>
          <a:p>
            <a:pPr>
              <a:defRPr sz="1100">
                <a:solidFill>
                  <a:srgbClr val="8D99AE"/>
                </a:solidFill>
              </a:defRPr>
            </a:pPr>
            <a:r>
              <a:t>Case Study Repository: Kartheek-3/B2    |    Final Deliverables: Part 1, Part 2 &amp; Part 3</a:t>
            </a:r>
          </a:p>
          <a:p>
            <a:pPr>
              <a:defRPr sz="1200" b="1">
                <a:solidFill>
                  <a:srgbClr val="00B4D8"/>
                </a:solidFill>
              </a:defRPr>
            </a:pPr>
            <a:r>
              <a:t>Team Members: Kartheek, Aswathy Mohan, Arnob, et 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solidFill>
            <a:srgbClr val="131F3E"/>
          </a:solidFill>
          <a:ln w="12700">
            <a:solidFill>
              <a:srgbClr val="2B41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000" b="1">
                <a:solidFill>
                  <a:srgbClr val="00B4D8"/>
                </a:solidFill>
              </a:defRPr>
            </a:pPr>
            <a:r>
              <a:t>DESIGN PATTERNS CASE STUDY | TEAM B2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Case Study Problem Statement &amp; 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1000">
                <a:solidFill>
                  <a:srgbClr val="8D99AE"/>
                </a:solidFill>
              </a:defRPr>
            </a:pPr>
            <a:r>
              <a:t>Healthcare Doctor Appointment Management System — Next.js &amp; Cross-Language Analysis   |   Slide 2 of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4480560"/>
          </a:xfrm>
          <a:prstGeom prst="roundRect">
            <a:avLst/>
          </a:prstGeom>
          <a:solidFill>
            <a:srgbClr val="131F3E"/>
          </a:solidFill>
          <a:ln w="19050">
            <a:solidFill>
              <a:srgbClr val="2B41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400" b="1">
                <a:solidFill>
                  <a:srgbClr val="00B4D8"/>
                </a:solidFill>
              </a:defRPr>
            </a:pPr>
            <a:r>
              <a:t>HEALTHCARE DOMAIN CHALLENGES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Procedural Form Logic: Inline switch statements handling create, schedule, and cancel workflows.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Unconstrained Scheduling: Hardcoded date pickers lacking shift limits or rest buffers.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Direct Notification Coupling: Mutations triggering inline SMS calls without queueing or retries.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Vendor Lock-In: Backend logic directly tied to node-appwrite SDK client functions.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463040"/>
            <a:ext cx="3328416" cy="4480560"/>
          </a:xfrm>
          <a:prstGeom prst="roundRect">
            <a:avLst/>
          </a:prstGeom>
          <a:solidFill>
            <a:srgbClr val="131F3E"/>
          </a:solidFill>
          <a:ln w="19050">
            <a:solidFill>
              <a:srgbClr val="2B41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400" b="1">
                <a:solidFill>
                  <a:srgbClr val="FFB703"/>
                </a:solidFill>
              </a:defRPr>
            </a:pPr>
            <a:r>
              <a:t>DESIGN PATTERN ARCHITECTURE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Encapsulation &amp; OCP: Decouple domain rules from framework and vendor dependencies.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Interchangeable Policies: Strategy pattern for outpatient, shift, and emergency scheduling.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Vendor Independence: Adapter pattern for teleconsultation video conferencing APIs.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Event-Driven Decoupling: Observer pattern for background reminder processing &amp; audit logging.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463040"/>
            <a:ext cx="3328416" cy="4480560"/>
          </a:xfrm>
          <a:prstGeom prst="roundRect">
            <a:avLst/>
          </a:prstGeom>
          <a:solidFill>
            <a:srgbClr val="131F3E"/>
          </a:solidFill>
          <a:ln w="19050">
            <a:solidFill>
              <a:srgbClr val="2B41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400" b="1">
                <a:solidFill>
                  <a:srgbClr val="2EC4B6"/>
                </a:solidFill>
              </a:defRPr>
            </a:pPr>
            <a:r>
              <a:t>CASE STUDY METHODOLOGY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Part 1: AI-assisted discovery &amp; empirical classification of original baseline repository.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Part 2: Evolution implementation across 3 core healthcare feature enhancements.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Part 3: 4-Language implementation (Java, Python, JS, C++) across 7 design patterns.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Benchmarking: Reproducible execution testing &amp; Lizard complexity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solidFill>
            <a:srgbClr val="131F3E"/>
          </a:solidFill>
          <a:ln w="12700">
            <a:solidFill>
              <a:srgbClr val="2B41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000" b="1">
                <a:solidFill>
                  <a:srgbClr val="00B4D8"/>
                </a:solidFill>
              </a:defRPr>
            </a:pPr>
            <a:r>
              <a:t>DESIGN PATTERNS CASE STUDY | TEAM B2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Original Application Architecture &amp; 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1000">
                <a:solidFill>
                  <a:srgbClr val="8D99AE"/>
                </a:solidFill>
              </a:defRPr>
            </a:pPr>
            <a:r>
              <a:t>Healthcare Doctor Appointment Management System — Next.js &amp; Cross-Language Analysis   |   Slide 3 of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480560"/>
          </a:xfrm>
          <a:prstGeom prst="roundRect">
            <a:avLst/>
          </a:prstGeom>
          <a:solidFill>
            <a:srgbClr val="131F3E"/>
          </a:solidFill>
          <a:ln w="19050">
            <a:solidFill>
              <a:srgbClr val="2B41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400" b="1">
                <a:solidFill>
                  <a:srgbClr val="00B4D8"/>
                </a:solidFill>
              </a:defRPr>
            </a:pPr>
            <a:r>
              <a:t>TECHNOLOGY STACK &amp; INFRASTRUCTURE</a:t>
            </a:r>
          </a:p>
          <a:p>
            <a:pPr>
              <a:defRPr sz="1100" b="1">
                <a:solidFill>
                  <a:srgbClr val="FFB703"/>
                </a:solidFill>
              </a:defRPr>
            </a:pPr>
            <a:r>
              <a:t>• Framework: </a:t>
            </a:r>
            <a:r>
              <a:rPr b="0">
                <a:solidFill>
                  <a:srgbClr val="FFFFFF"/>
                </a:solidFill>
              </a:rPr>
              <a:t>Next.js (App Router, Server Actions)</a:t>
            </a:r>
          </a:p>
          <a:p>
            <a:pPr>
              <a:defRPr sz="1100" b="1">
                <a:solidFill>
                  <a:srgbClr val="FFB703"/>
                </a:solidFill>
              </a:defRPr>
            </a:pPr>
            <a:r>
              <a:t>• UI Layer: </a:t>
            </a:r>
            <a:r>
              <a:rPr b="0">
                <a:solidFill>
                  <a:srgbClr val="FFFFFF"/>
                </a:solidFill>
              </a:rPr>
              <a:t>React 18, Tailwind CSS, Radix UI</a:t>
            </a:r>
          </a:p>
          <a:p>
            <a:pPr>
              <a:defRPr sz="1100" b="1">
                <a:solidFill>
                  <a:srgbClr val="FFB703"/>
                </a:solidFill>
              </a:defRPr>
            </a:pPr>
            <a:r>
              <a:t>• Validation: </a:t>
            </a:r>
            <a:r>
              <a:rPr b="0">
                <a:solidFill>
                  <a:srgbClr val="FFFFFF"/>
                </a:solidFill>
              </a:rPr>
              <a:t>Zod Schema Validation Engine</a:t>
            </a:r>
          </a:p>
          <a:p>
            <a:pPr>
              <a:defRPr sz="1100" b="1">
                <a:solidFill>
                  <a:srgbClr val="FFB703"/>
                </a:solidFill>
              </a:defRPr>
            </a:pPr>
            <a:r>
              <a:t>• Backend BaaS: </a:t>
            </a:r>
            <a:r>
              <a:rPr b="0">
                <a:solidFill>
                  <a:srgbClr val="FFFFFF"/>
                </a:solidFill>
              </a:rPr>
              <a:t>Appwrite (Databases, Users, Messaging, Storage)</a:t>
            </a:r>
          </a:p>
          <a:p>
            <a:pPr>
              <a:defRPr sz="1100" b="1">
                <a:solidFill>
                  <a:srgbClr val="FFB703"/>
                </a:solidFill>
              </a:defRPr>
            </a:pPr>
            <a:r>
              <a:t>• Messaging: </a:t>
            </a:r>
            <a:r>
              <a:rPr b="0">
                <a:solidFill>
                  <a:srgbClr val="FFFFFF"/>
                </a:solidFill>
              </a:rPr>
              <a:t>Twilio SMS API integration</a:t>
            </a:r>
          </a:p>
          <a:p>
            <a:pPr>
              <a:defRPr sz="1100" b="1">
                <a:solidFill>
                  <a:srgbClr val="FFB703"/>
                </a:solidFill>
              </a:defRPr>
            </a:pPr>
            <a:r>
              <a:t>• Baseline Commit: </a:t>
            </a:r>
            <a:r>
              <a:rPr b="0">
                <a:solidFill>
                  <a:srgbClr val="FFFFFF"/>
                </a:solidFill>
              </a:rPr>
              <a:t>f846cd4c476d48a04fcaeb530b48a77c5295bb92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42255" cy="4480560"/>
          </a:xfrm>
          <a:prstGeom prst="roundRect">
            <a:avLst/>
          </a:prstGeom>
          <a:solidFill>
            <a:srgbClr val="131F3E"/>
          </a:solidFill>
          <a:ln w="19050">
            <a:solidFill>
              <a:srgbClr val="2B41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400" b="1">
                <a:solidFill>
                  <a:srgbClr val="2EC4B6"/>
                </a:solidFill>
              </a:defRPr>
            </a:pPr>
            <a:r>
              <a:t>BASELINE APPLICATION WORKFLOW</a:t>
            </a:r>
          </a:p>
          <a:p>
            <a:pPr>
              <a:defRPr sz="1100" b="1">
                <a:solidFill>
                  <a:srgbClr val="00B4D8"/>
                </a:solidFill>
              </a:defRPr>
            </a:pPr>
            <a:r>
              <a:t>• 1. Patient Onboarding: </a:t>
            </a:r>
            <a:r>
              <a:rPr b="0">
                <a:solidFill>
                  <a:srgbClr val="FFFFFF"/>
                </a:solidFill>
              </a:rPr>
              <a:t>Form submission via AppointmentForm.tsx</a:t>
            </a:r>
          </a:p>
          <a:p>
            <a:pPr>
              <a:defRPr sz="1100" b="1">
                <a:solidFill>
                  <a:srgbClr val="00B4D8"/>
                </a:solidFill>
              </a:defRPr>
            </a:pPr>
            <a:r>
              <a:t>• 2. Schema Validation: </a:t>
            </a:r>
            <a:r>
              <a:rPr b="0">
                <a:solidFill>
                  <a:srgbClr val="FFFFFF"/>
                </a:solidFill>
              </a:rPr>
              <a:t>Parameterized validation in validation.ts</a:t>
            </a:r>
          </a:p>
          <a:p>
            <a:pPr>
              <a:defRPr sz="1100" b="1">
                <a:solidFill>
                  <a:srgbClr val="00B4D8"/>
                </a:solidFill>
              </a:defRPr>
            </a:pPr>
            <a:r>
              <a:t>• 3. Action Processing: </a:t>
            </a:r>
            <a:r>
              <a:rPr b="0">
                <a:solidFill>
                  <a:srgbClr val="FFFFFF"/>
                </a:solidFill>
              </a:rPr>
              <a:t>Server action routines in appointment.actions.ts</a:t>
            </a:r>
          </a:p>
          <a:p>
            <a:pPr>
              <a:defRPr sz="1100" b="1">
                <a:solidFill>
                  <a:srgbClr val="00B4D8"/>
                </a:solidFill>
              </a:defRPr>
            </a:pPr>
            <a:r>
              <a:t>• 4. Database Mutation: </a:t>
            </a:r>
            <a:r>
              <a:rPr b="0">
                <a:solidFill>
                  <a:srgbClr val="FFFFFF"/>
                </a:solidFill>
              </a:rPr>
              <a:t>Direct appwrite.databases.createDocument call</a:t>
            </a:r>
          </a:p>
          <a:p>
            <a:pPr>
              <a:defRPr sz="1100" b="1">
                <a:solidFill>
                  <a:srgbClr val="00B4D8"/>
                </a:solidFill>
              </a:defRPr>
            </a:pPr>
            <a:r>
              <a:t>• 5. Notification Side-Effect: </a:t>
            </a:r>
            <a:r>
              <a:rPr b="0">
                <a:solidFill>
                  <a:srgbClr val="FFFFFF"/>
                </a:solidFill>
              </a:rPr>
              <a:t>Inline call to sendSMSNotification helper</a:t>
            </a:r>
          </a:p>
          <a:p>
            <a:pPr>
              <a:defRPr sz="1100" b="1">
                <a:solidFill>
                  <a:srgbClr val="00B4D8"/>
                </a:solidFill>
              </a:defRPr>
            </a:pPr>
            <a:r>
              <a:t>• 6. Result Rendering: </a:t>
            </a:r>
            <a:r>
              <a:rPr b="0">
                <a:solidFill>
                  <a:srgbClr val="FFFFFF"/>
                </a:solidFill>
              </a:rPr>
              <a:t>Client UI state update on success screen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solidFill>
            <a:srgbClr val="131F3E"/>
          </a:solidFill>
          <a:ln w="12700">
            <a:solidFill>
              <a:srgbClr val="2B41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000" b="1">
                <a:solidFill>
                  <a:srgbClr val="00B4D8"/>
                </a:solidFill>
              </a:defRPr>
            </a:pPr>
            <a:r>
              <a:t>DESIGN PATTERNS CASE STUDY | TEAM B2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Part 1: AI-Assisted Pattern Discovery &amp; Classification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1000">
                <a:solidFill>
                  <a:srgbClr val="8D99AE"/>
                </a:solidFill>
              </a:defRPr>
            </a:pPr>
            <a:r>
              <a:t>Healthcare Doctor Appointment Management System — Next.js &amp; Cross-Language Analysis   |   Slide 4 of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1188720"/>
          </a:xfrm>
          <a:prstGeom prst="roundRect">
            <a:avLst/>
          </a:prstGeom>
          <a:solidFill>
            <a:srgbClr val="131F3E"/>
          </a:solidFill>
          <a:ln w="19050">
            <a:solidFill>
              <a:srgbClr val="2B41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200" b="1">
                <a:solidFill>
                  <a:srgbClr val="FFB703"/>
                </a:solidFill>
              </a:defRPr>
            </a:pPr>
            <a:r>
              <a:t>EMPIRICAL DISCOVERY INVENTORY SUMMARY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0 Classical GoF Patterns Fully Implemented Baseline   |   2 Pattern-Like Structures   |   5 Refactoring Opportunities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34640"/>
            <a:ext cx="5212080" cy="3108960"/>
          </a:xfrm>
          <a:prstGeom prst="roundRect">
            <a:avLst/>
          </a:prstGeom>
          <a:solidFill>
            <a:srgbClr val="131F3E"/>
          </a:solidFill>
          <a:ln w="19050">
            <a:solidFill>
              <a:srgbClr val="2B41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300" b="1">
                <a:solidFill>
                  <a:srgbClr val="00B4D8"/>
                </a:solidFill>
              </a:defRPr>
            </a:pPr>
            <a:r>
              <a:t>PATTERN-LIKE STRUCTURES (2)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1. Singleton (P01): Module-scoped Appwrite client instantiated once in lib/appwrite.config.ts:29-40. Reused across requests, missing DCL/private constructor.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2. Factory Method (P02): Parameterized getAppointmentSchema switch function in lib/validation.ts:148-157 returning validation schemas.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2834640"/>
            <a:ext cx="5212080" cy="3108960"/>
          </a:xfrm>
          <a:prstGeom prst="roundRect">
            <a:avLst/>
          </a:prstGeom>
          <a:solidFill>
            <a:srgbClr val="131F3E"/>
          </a:solidFill>
          <a:ln w="19050">
            <a:solidFill>
              <a:srgbClr val="2B41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300" b="1">
                <a:solidFill>
                  <a:srgbClr val="2EC4B6"/>
                </a:solidFill>
              </a:defRPr>
            </a:pPr>
            <a:r>
              <a:t>REFACTORING OPPORTUNITIES (5)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1. Strategy (P04): Inline switch branching in AppointmentForm.tsx:58-115.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2. Adapter (P07): Direct node-appwrite SDK coupling in lib/appwrite.config.ts.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3. Observer (P03): Procedural SMS call in appointment.actions.ts:134-165.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4. State (P05): Raw union status strings ('pending' | 'scheduled').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5. Command (P06): Async server functions without execute/undo abstractions.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solidFill>
            <a:srgbClr val="131F3E"/>
          </a:solidFill>
          <a:ln w="12700">
            <a:solidFill>
              <a:srgbClr val="2B41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000" b="1">
                <a:solidFill>
                  <a:srgbClr val="00B4D8"/>
                </a:solidFill>
              </a:defRPr>
            </a:pPr>
            <a:r>
              <a:t>DESIGN PATTERNS CASE STUDY | TEAM B2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Part 1: Source-Code Evidence &amp; False-Positive Elimination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1000">
                <a:solidFill>
                  <a:srgbClr val="8D99AE"/>
                </a:solidFill>
              </a:defRPr>
            </a:pPr>
            <a:r>
              <a:t>Healthcare Doctor Appointment Management System — Next.js &amp; Cross-Language Analysis   |   Slide 5 of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4480560"/>
          </a:xfrm>
          <a:prstGeom prst="roundRect">
            <a:avLst/>
          </a:prstGeom>
          <a:solidFill>
            <a:srgbClr val="131F3E"/>
          </a:solidFill>
          <a:ln w="19050">
            <a:solidFill>
              <a:srgbClr val="2B41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400" b="1">
                <a:solidFill>
                  <a:srgbClr val="FFB703"/>
                </a:solidFill>
              </a:defRPr>
            </a:pPr>
            <a:r>
              <a:t>HUMAN SOURCE VERIFICATION VS LLM HALLUCINATIONS</a:t>
            </a:r>
          </a:p>
          <a:p>
            <a:pPr>
              <a:defRPr sz="1100" b="1">
                <a:solidFill>
                  <a:srgbClr val="00B4D8"/>
                </a:solidFill>
              </a:defRPr>
            </a:pPr>
            <a:r>
              <a:t>• The AI Hallucination Trap: </a:t>
            </a:r>
            <a:r>
              <a:rPr b="0">
                <a:solidFill>
                  <a:srgbClr val="FFFFFF"/>
                </a:solidFill>
              </a:rPr>
              <a:t>LLM tools initially tagged procedural switch statements as GoF Strategy patterns and raw Appwrite SDK initialization as formal Singleton patterns.</a:t>
            </a:r>
          </a:p>
          <a:p/>
          <a:p>
            <a:pPr>
              <a:defRPr sz="1100" b="1">
                <a:solidFill>
                  <a:srgbClr val="00B4D8"/>
                </a:solidFill>
              </a:defRPr>
            </a:pPr>
            <a:r>
              <a:t>• Empirical Code Auditing: </a:t>
            </a:r>
            <a:r>
              <a:rPr b="0">
                <a:solidFill>
                  <a:srgbClr val="FFFFFF"/>
                </a:solidFill>
              </a:rPr>
              <a:t>Inspecting actual line numbers (e.g. AppointmentForm.tsx:58-115) proved the total absence of GoF interfaces, abstract classes, or polymorphic dispatch.</a:t>
            </a:r>
          </a:p>
          <a:p/>
          <a:p>
            <a:pPr>
              <a:defRPr sz="1100" b="1">
                <a:solidFill>
                  <a:srgbClr val="00B4D8"/>
                </a:solidFill>
              </a:defRPr>
            </a:pPr>
            <a:r>
              <a:t>• Pattern-Like vs Classical GoF: </a:t>
            </a:r>
            <a:r>
              <a:rPr b="0">
                <a:solidFill>
                  <a:srgbClr val="FFFFFF"/>
                </a:solidFill>
              </a:rPr>
              <a:t>Recognized module-level client caching (lib/appwrite.config.ts:29-40) as pattern-like Singleton, and getAppointmentSchema as a parameterized factory function.</a:t>
            </a:r>
          </a:p>
          <a:p/>
          <a:p>
            <a:pPr>
              <a:defRPr sz="1100" b="1">
                <a:solidFill>
                  <a:srgbClr val="00B4D8"/>
                </a:solidFill>
              </a:defRPr>
            </a:pPr>
            <a:r>
              <a:t>• Refactoring Opportunity Baseline: </a:t>
            </a:r>
            <a:r>
              <a:rPr b="0">
                <a:solidFill>
                  <a:srgbClr val="FFFFFF"/>
                </a:solidFill>
              </a:rPr>
              <a:t>Formalized 5 key refactoring opportunities (Adapter, Strategy, Observer, State, Command) to serve as the baseline for Part 2 and Part 3 evolutionary design.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solidFill>
            <a:srgbClr val="131F3E"/>
          </a:solidFill>
          <a:ln w="12700">
            <a:solidFill>
              <a:srgbClr val="2B41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000" b="1">
                <a:solidFill>
                  <a:srgbClr val="00B4D8"/>
                </a:solidFill>
              </a:defRPr>
            </a:pPr>
            <a:r>
              <a:t>DESIGN PATTERNS CASE STUDY | TEAM B2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Part 2: Application Evolution &amp; Pattern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1000">
                <a:solidFill>
                  <a:srgbClr val="8D99AE"/>
                </a:solidFill>
              </a:defRPr>
            </a:pPr>
            <a:r>
              <a:t>Healthcare Doctor Appointment Management System — Next.js &amp; Cross-Language Analysis   |   Slide 6 of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4480560"/>
          </a:xfrm>
          <a:prstGeom prst="roundRect">
            <a:avLst/>
          </a:prstGeom>
          <a:solidFill>
            <a:srgbClr val="131F3E"/>
          </a:solidFill>
          <a:ln w="19050">
            <a:solidFill>
              <a:srgbClr val="2B41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300" b="1">
                <a:solidFill>
                  <a:srgbClr val="00B4D8"/>
                </a:solidFill>
              </a:defRPr>
            </a:pPr>
            <a:r>
              <a:t>CH01: VIDEO CONSULTATION</a:t>
            </a:r>
          </a:p>
          <a:p>
            <a:pPr>
              <a:defRPr sz="1100" b="1">
                <a:solidFill>
                  <a:srgbClr val="FFB703"/>
                </a:solidFill>
              </a:defRPr>
            </a:pPr>
            <a:r>
              <a:t>Pattern: GoF Adapter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Goal: Add teleconsultation without vendor lock-in.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Target Interface: IVideoConsultationService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Adapter: LocalDemonstrationVideoAdapter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Adaptee: ProprietaryVideoProvider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Data Mapping: ISO-8601 &lt;-&gt; Unix epoch seconds, duration minutes &lt;-&gt; seconds, role LEVEL_HOST/LEVEL_GUEST.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463040"/>
            <a:ext cx="3328416" cy="4480560"/>
          </a:xfrm>
          <a:prstGeom prst="roundRect">
            <a:avLst/>
          </a:prstGeom>
          <a:solidFill>
            <a:srgbClr val="131F3E"/>
          </a:solidFill>
          <a:ln w="19050">
            <a:solidFill>
              <a:srgbClr val="2B41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300" b="1">
                <a:solidFill>
                  <a:srgbClr val="FFB703"/>
                </a:solidFill>
              </a:defRPr>
            </a:pPr>
            <a:r>
              <a:t>CH02: DOCTOR AVAILABILITY</a:t>
            </a:r>
          </a:p>
          <a:p>
            <a:pPr>
              <a:defRPr sz="1100" b="1">
                <a:solidFill>
                  <a:srgbClr val="00B4D8"/>
                </a:solidFill>
              </a:defRPr>
            </a:pPr>
            <a:r>
              <a:t>Pattern: GoF Strategy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Goal: Dynamic scheduling rule evaluation.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Strategy Interface: IAvailabilityStrategy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Context: DoctorAvailabilityContext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Policies: StandardBusinessHours, ShiftBasedAvailability, EmergencyOnCall.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Rules: Lunch break (12-13), shift limits (07-15), 15-min emergency recovery buffer.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463040"/>
            <a:ext cx="3328416" cy="4480560"/>
          </a:xfrm>
          <a:prstGeom prst="roundRect">
            <a:avLst/>
          </a:prstGeom>
          <a:solidFill>
            <a:srgbClr val="131F3E"/>
          </a:solidFill>
          <a:ln w="19050">
            <a:solidFill>
              <a:srgbClr val="2B41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300" b="1">
                <a:solidFill>
                  <a:srgbClr val="2EC4B6"/>
                </a:solidFill>
              </a:defRPr>
            </a:pPr>
            <a:r>
              <a:t>CH03: AUTOMATED REMINDERS</a:t>
            </a:r>
          </a:p>
          <a:p>
            <a:pPr>
              <a:defRPr sz="1100" b="1">
                <a:solidFill>
                  <a:srgbClr val="FFB703"/>
                </a:solidFill>
              </a:defRPr>
            </a:pPr>
            <a:r>
              <a:t>Pattern: GoF Observer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Goal: Decouple mutations from SMS delivery.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Subject: DomainEventBus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Subscriber Interface: IDomainEventSubscriber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Observers: ReminderSchedulerObserver, ReminderCancellationObserver, AuditLogObserver.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Engine: Persistent JSON store &amp; T-24h/T-2h reminder processing engine.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solidFill>
            <a:srgbClr val="131F3E"/>
          </a:solidFill>
          <a:ln w="12700">
            <a:solidFill>
              <a:srgbClr val="2B41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000" b="1">
                <a:solidFill>
                  <a:srgbClr val="00B4D8"/>
                </a:solidFill>
              </a:defRPr>
            </a:pPr>
            <a:r>
              <a:t>DESIGN PATTERNS CASE STUDY | TEAM B2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Part 2 Architecture: Before vs. After Pattern Refactoring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1000">
                <a:solidFill>
                  <a:srgbClr val="8D99AE"/>
                </a:solidFill>
              </a:defRPr>
            </a:pPr>
            <a:r>
              <a:t>Healthcare Doctor Appointment Management System — Next.js &amp; Cross-Language Analysis   |   Slide 7 of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480560"/>
          </a:xfrm>
          <a:prstGeom prst="roundRect">
            <a:avLst/>
          </a:prstGeom>
          <a:solidFill>
            <a:srgbClr val="131F3E"/>
          </a:solidFill>
          <a:ln w="19050">
            <a:solidFill>
              <a:srgbClr val="2B41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400" b="1">
                <a:solidFill>
                  <a:srgbClr val="FFB703"/>
                </a:solidFill>
              </a:defRPr>
            </a:pPr>
            <a:r>
              <a:t>BEFORE EVOLUTION (PROCEDURAL)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UI Form Coupling: Inline switch branching inside AppointmentForm.tsx handling all create/schedule actions.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Hardcoded Availability: Date picker allowing arbitrary booking without shift or rest buffer validation.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Procedural Notification: Appointment mutations directly calling sendSMSNotification inside server actions.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Infrastructure Coupling: Direct calls to node-appwrite SDK client endpoints without abstraction.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42255" cy="4480560"/>
          </a:xfrm>
          <a:prstGeom prst="roundRect">
            <a:avLst/>
          </a:prstGeom>
          <a:solidFill>
            <a:srgbClr val="131F3E"/>
          </a:solidFill>
          <a:ln w="19050">
            <a:solidFill>
              <a:srgbClr val="2B41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400" b="1">
                <a:solidFill>
                  <a:srgbClr val="2EC4B6"/>
                </a:solidFill>
              </a:defRPr>
            </a:pPr>
            <a:r>
              <a:t>AFTER EVOLUTION (GOF PATTERNS)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Adapter (CH01): Decoupled video conferencing normalizing epoch timestamps, durations, and LEVEL_HOST roles.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Strategy (CH02): Interchangeable availability policies (Standard, Shift, Emergency) evaluated at runtime via DoctorAvailabilityContext.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Observer (CH03): Asynchronous DomainEventBus publishing APPOINTMENT_SCHEDULED to background reminder scheduler with JSON store persistence.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solidFill>
            <a:srgbClr val="131F3E"/>
          </a:solidFill>
          <a:ln w="12700">
            <a:solidFill>
              <a:srgbClr val="2B41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000" b="1">
                <a:solidFill>
                  <a:srgbClr val="00B4D8"/>
                </a:solidFill>
              </a:defRPr>
            </a:pPr>
            <a:r>
              <a:t>DESIGN PATTERNS CASE STUDY | TEAM B2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Part 2: Empirical Verification &amp; Regression Testing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1000">
                <a:solidFill>
                  <a:srgbClr val="8D99AE"/>
                </a:solidFill>
              </a:defRPr>
            </a:pPr>
            <a:r>
              <a:t>Healthcare Doctor Appointment Management System — Next.js &amp; Cross-Language Analysis   |   Slide 8 of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4480560"/>
          </a:xfrm>
          <a:prstGeom prst="roundRect">
            <a:avLst/>
          </a:prstGeom>
          <a:solidFill>
            <a:srgbClr val="131F3E"/>
          </a:solidFill>
          <a:ln w="19050">
            <a:solidFill>
              <a:srgbClr val="2B41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400" b="1">
                <a:solidFill>
                  <a:srgbClr val="00B4D8"/>
                </a:solidFill>
              </a:defRPr>
            </a:pPr>
            <a:r>
              <a:t>VERIFIED TEST SUITE OUTCOMES &amp; BOUNDARY CHECKS</a:t>
            </a:r>
          </a:p>
          <a:p>
            <a:pPr>
              <a:defRPr sz="1100" b="1">
                <a:solidFill>
                  <a:srgbClr val="FFB703"/>
                </a:solidFill>
              </a:defRPr>
            </a:pPr>
            <a:r>
              <a:t>• CH01 Adapter Tests (6/6 Passed): </a:t>
            </a:r>
            <a:r>
              <a:rPr b="0">
                <a:solidFill>
                  <a:srgbClr val="FFFFFF"/>
                </a:solidFill>
              </a:rPr>
              <a:t>Verified session creation, room naming (room_pat_1_doc_1), token role minting (LEVEL_HOST / LEVEL_GUEST), role rejection ('admin'), and DomainValidationError mapping.</a:t>
            </a:r>
          </a:p>
          <a:p/>
          <a:p>
            <a:pPr>
              <a:defRPr sz="1100" b="1">
                <a:solidFill>
                  <a:srgbClr val="FFB703"/>
                </a:solidFill>
              </a:defRPr>
            </a:pPr>
            <a:r>
              <a:t>• CH02 Strategy Tests (6/6 Passed): </a:t>
            </a:r>
            <a:r>
              <a:rPr b="0">
                <a:solidFill>
                  <a:srgbClr val="FFFFFF"/>
                </a:solidFill>
              </a:rPr>
              <a:t>Verified standard business hours, weekend rejection, 12:00-13:00 lunch break overlap, shift limits (07:00-15:00), and 15-min emergency rest buffer enforcement.</a:t>
            </a:r>
          </a:p>
          <a:p/>
          <a:p>
            <a:pPr>
              <a:defRPr sz="1100" b="1">
                <a:solidFill>
                  <a:srgbClr val="FFB703"/>
                </a:solidFill>
              </a:defRPr>
            </a:pPr>
            <a:r>
              <a:t>• CH03 Observer Tests (6/6 Passed): </a:t>
            </a:r>
            <a:r>
              <a:rPr b="0">
                <a:solidFill>
                  <a:srgbClr val="FFFFFF"/>
                </a:solidFill>
              </a:rPr>
              <a:t>Verified APPOINTMENT_SCHEDULED event publishing, subscriber dispatch, T-24h/T-2h reminder calculation, cancellation handling, retry policy, and JSON persistence.</a:t>
            </a:r>
          </a:p>
          <a:p/>
          <a:p>
            <a:pPr>
              <a:defRPr sz="1100" b="1">
                <a:solidFill>
                  <a:srgbClr val="FFB703"/>
                </a:solidFill>
              </a:defRPr>
            </a:pPr>
            <a:r>
              <a:t>• Zero Regression Guarantee: </a:t>
            </a:r>
            <a:r>
              <a:rPr b="0">
                <a:solidFill>
                  <a:srgbClr val="FFFFFF"/>
                </a:solidFill>
              </a:rPr>
              <a:t>Verified 100% backward compatibility for original patient registration, appointment booking, and status updates across the Next.js server action layer.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solidFill>
            <a:srgbClr val="131F3E"/>
          </a:solidFill>
          <a:ln w="12700">
            <a:solidFill>
              <a:srgbClr val="2B41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000" b="1">
                <a:solidFill>
                  <a:srgbClr val="00B4D8"/>
                </a:solidFill>
              </a:defRPr>
            </a:pPr>
            <a:r>
              <a:t>DESIGN PATTERNS CASE STUDY | TEAM B2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Part 3: Cross-Language Implementation Architecture (4 Ecosystems)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1000">
                <a:solidFill>
                  <a:srgbClr val="8D99AE"/>
                </a:solidFill>
              </a:defRPr>
            </a:pPr>
            <a:r>
              <a:t>Healthcare Doctor Appointment Management System — Next.js &amp; Cross-Language Analysis   |   Slide 9 of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68880" cy="4480560"/>
          </a:xfrm>
          <a:prstGeom prst="roundRect">
            <a:avLst/>
          </a:prstGeom>
          <a:solidFill>
            <a:srgbClr val="131F3E"/>
          </a:solidFill>
          <a:ln w="19050">
            <a:solidFill>
              <a:srgbClr val="2B41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 b="1">
                <a:solidFill>
                  <a:srgbClr val="00B4D8"/>
                </a:solidFill>
              </a:defRPr>
            </a:pPr>
            <a:r>
              <a:t>JAVA 17/25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Static Typing &amp; OOP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Package scoping (snippet)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Interfaces &amp; Abstract Classes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HashMap repository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Double-Checked Locking Singleton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Ex: java -cp Part3/strategy/java/bin test.StrategyTest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463040"/>
            <a:ext cx="2468880" cy="4480560"/>
          </a:xfrm>
          <a:prstGeom prst="roundRect">
            <a:avLst/>
          </a:prstGeom>
          <a:solidFill>
            <a:srgbClr val="131F3E"/>
          </a:solidFill>
          <a:ln w="19050">
            <a:solidFill>
              <a:srgbClr val="2B41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 b="1">
                <a:solidFill>
                  <a:srgbClr val="FFB703"/>
                </a:solidFill>
              </a:defRPr>
            </a:pPr>
            <a:r>
              <a:t>PYTHON 3.14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Dynamic Typing &amp; ABC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abc.ABC &amp; @dataclass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Dictionary repository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Thread-safe __new__ Singleton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Self-contained sys.path runner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Ex: python Part3/strategy/python/tests/test_strategy.py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2468880" cy="4480560"/>
          </a:xfrm>
          <a:prstGeom prst="roundRect">
            <a:avLst/>
          </a:prstGeom>
          <a:solidFill>
            <a:srgbClr val="131F3E"/>
          </a:solidFill>
          <a:ln w="19050">
            <a:solidFill>
              <a:srgbClr val="2B41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 b="1">
                <a:solidFill>
                  <a:srgbClr val="2EC4B6"/>
                </a:solidFill>
              </a:defRPr>
            </a:pPr>
            <a:r>
              <a:t>JAVASCRIPT (NODE)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Prototypal / ES6 Classes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CommonJS module export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Map collection repository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Class property Singleton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Dynamic duck-typing checks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Ex: node Part3/strategy/javascript/tests/test_strategy.js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463040"/>
            <a:ext cx="2468880" cy="4480560"/>
          </a:xfrm>
          <a:prstGeom prst="roundRect">
            <a:avLst/>
          </a:prstGeom>
          <a:solidFill>
            <a:srgbClr val="131F3E"/>
          </a:solidFill>
          <a:ln w="19050">
            <a:solidFill>
              <a:srgbClr val="2B41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C++14 / GCC (WSL)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Statically Typed &amp; Native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Pure virtual functions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std::unordered_map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std::unique_ptr &amp; RAII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std::lock_guard Singleton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Ex: wsl -e bash -c "./test_strategy"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solidFill>
            <a:srgbClr val="131F3E"/>
          </a:solidFill>
          <a:ln w="12700">
            <a:solidFill>
              <a:srgbClr val="2B41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000" b="1">
                <a:solidFill>
                  <a:srgbClr val="00B4D8"/>
                </a:solidFill>
              </a:defRPr>
            </a:pPr>
            <a:r>
              <a:t>DESIGN PATTERNS CASE STUDY | TEAM B2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Part 3: Empirical Dataset &amp; Benchmark Metrics (28 Implementations)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1000">
                <a:solidFill>
                  <a:srgbClr val="8D99AE"/>
                </a:solidFill>
              </a:defRPr>
            </a:pPr>
            <a:r>
              <a:t>Healthcare Doctor Appointment Management System — Next.js &amp; Cross-Language Analysis   |   Slide 10 of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4480560"/>
          </a:xfrm>
          <a:prstGeom prst="roundRect">
            <a:avLst/>
          </a:prstGeom>
          <a:solidFill>
            <a:srgbClr val="131F3E"/>
          </a:solidFill>
          <a:ln w="19050">
            <a:solidFill>
              <a:srgbClr val="2B41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300" b="1">
                <a:solidFill>
                  <a:srgbClr val="FFB703"/>
                </a:solidFill>
              </a:defRPr>
            </a:pPr>
            <a:r>
              <a:t>CANONICAL DATASET METRICS SUMMARY (Part3/llm/pattern_crosslanguage.csv)</a:t>
            </a:r>
          </a:p>
          <a:p>
            <a:pPr>
              <a:defRPr sz="1100" b="1">
                <a:solidFill>
                  <a:srgbClr val="00B4D8"/>
                </a:solidFill>
              </a:defRPr>
            </a:pPr>
            <a:r>
              <a:t>• 100% Test Pass Rate: </a:t>
            </a:r>
            <a:r>
              <a:rPr b="0">
                <a:solidFill>
                  <a:srgbClr val="FFFFFF"/>
                </a:solidFill>
              </a:rPr>
              <a:t>All 28 pattern-language test suites (7 patterns x 4 languages) executed and passed 100% of test cases (28/28 verified passing).</a:t>
            </a:r>
          </a:p>
          <a:p/>
          <a:p>
            <a:pPr>
              <a:defRPr sz="1100" b="1">
                <a:solidFill>
                  <a:srgbClr val="00B4D8"/>
                </a:solidFill>
              </a:defRPr>
            </a:pPr>
            <a:r>
              <a:t>• Source Code Volume (LOC): </a:t>
            </a:r>
            <a:r>
              <a:rPr b="0">
                <a:solidFill>
                  <a:srgbClr val="FFFFFF"/>
                </a:solidFill>
              </a:rPr>
              <a:t>Python achieves highest conciseness (22-85 LOC/pattern), followed by JS (20-109 LOC), C++ (42-141 LOC), and Java (32-152 LOC).</a:t>
            </a:r>
          </a:p>
          <a:p/>
          <a:p>
            <a:pPr>
              <a:defRPr sz="1100" b="1">
                <a:solidFill>
                  <a:srgbClr val="00B4D8"/>
                </a:solidFill>
              </a:defRPr>
            </a:pPr>
            <a:r>
              <a:t>• Max Cyclomatic Complexity: </a:t>
            </a:r>
            <a:r>
              <a:rPr b="0">
                <a:solidFill>
                  <a:srgbClr val="FFFFFF"/>
                </a:solidFill>
              </a:rPr>
              <a:t>Lizard max function CC (max_function_cc) ranges from 1 to 12 across all implementations (e.g. State CC=1, Strategy CC=12).</a:t>
            </a:r>
          </a:p>
          <a:p/>
          <a:p>
            <a:pPr>
              <a:defRPr sz="1100" b="1">
                <a:solidFill>
                  <a:srgbClr val="00B4D8"/>
                </a:solidFill>
              </a:defRPr>
            </a:pPr>
            <a:r>
              <a:t>• Verified Toolchains: </a:t>
            </a:r>
            <a:r>
              <a:rPr b="0">
                <a:solidFill>
                  <a:srgbClr val="FFFFFF"/>
                </a:solidFill>
              </a:rPr>
              <a:t>Java: OpenJDK 25.0.4.1 | Python: 3.14.8 | JS: Node.js v24.21.0 | C++: GCC 15.2.0 (WSL Ubuntu).</a:t>
            </a:r>
          </a:p>
          <a:p/>
          <a:p>
            <a:pPr>
              <a:defRPr sz="1100" b="1">
                <a:solidFill>
                  <a:srgbClr val="00B4D8"/>
                </a:solidFill>
              </a:defRPr>
            </a:pPr>
            <a:r>
              <a:t>• Process Median Ms (5 Runs): </a:t>
            </a:r>
            <a:r>
              <a:rPr b="0">
                <a:solidFill>
                  <a:srgbClr val="FFFFFF"/>
                </a:solidFill>
              </a:rPr>
              <a:t>Python (26-61ms) &amp; Node.js (36-53ms) show fast process startup; Java averages 52-96ms; C++ in WSL (97-118ms) includes Linux subsystem process launch overhead.</a:t>
            </a:r>
          </a:p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solidFill>
            <a:srgbClr val="131F3E"/>
          </a:solidFill>
          <a:ln w="12700">
            <a:solidFill>
              <a:srgbClr val="2B41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000" b="1">
                <a:solidFill>
                  <a:srgbClr val="00B4D8"/>
                </a:solidFill>
              </a:defRPr>
            </a:pPr>
            <a:r>
              <a:t>DESIGN PATTERNS CASE STUDY | TEAM B2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Discussion, Architectural Trade-Offs &amp; 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1000">
                <a:solidFill>
                  <a:srgbClr val="8D99AE"/>
                </a:solidFill>
              </a:defRPr>
            </a:pPr>
            <a:r>
              <a:t>Healthcare Doctor Appointment Management System — Next.js &amp; Cross-Language Analysis   |   Slide 11 of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4480560"/>
          </a:xfrm>
          <a:prstGeom prst="roundRect">
            <a:avLst/>
          </a:prstGeom>
          <a:solidFill>
            <a:srgbClr val="131F3E"/>
          </a:solidFill>
          <a:ln w="19050">
            <a:solidFill>
              <a:srgbClr val="2B41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400" b="1">
                <a:solidFill>
                  <a:srgbClr val="00B4D8"/>
                </a:solidFill>
              </a:defRPr>
            </a:pPr>
            <a:r>
              <a:t>LESSONS LEARNED &amp; ARCHITECTURAL IMPACT</a:t>
            </a:r>
          </a:p>
          <a:p>
            <a:pPr>
              <a:defRPr sz="1100" b="1">
                <a:solidFill>
                  <a:srgbClr val="FFB703"/>
                </a:solidFill>
              </a:defRPr>
            </a:pPr>
            <a:r>
              <a:t>• Decoupling vs Indirection Overhead: </a:t>
            </a:r>
            <a:r>
              <a:rPr b="0">
                <a:solidFill>
                  <a:srgbClr val="FFFFFF"/>
                </a:solidFill>
              </a:rPr>
              <a:t>Introducing Strategy, Adapter, and Observer increases interface count but eliminates monolithic switch statements and direct vendor lock-in, enabling isolated unit testing.</a:t>
            </a:r>
          </a:p>
          <a:p/>
          <a:p>
            <a:pPr>
              <a:defRPr sz="1100" b="1">
                <a:solidFill>
                  <a:srgbClr val="FFB703"/>
                </a:solidFill>
              </a:defRPr>
            </a:pPr>
            <a:r>
              <a:t>• Cross-Language Adaptability: </a:t>
            </a:r>
            <a:r>
              <a:rPr b="0">
                <a:solidFill>
                  <a:srgbClr val="FFFFFF"/>
                </a:solidFill>
              </a:rPr>
              <a:t>Core GoF design pattern principles (encapsulation, polymorphism, event buses) translate cleanly across both statically typed (Java, C++) and dynamically typed (Python, JS) languages.</a:t>
            </a:r>
          </a:p>
          <a:p/>
          <a:p>
            <a:pPr>
              <a:defRPr sz="1100" b="1">
                <a:solidFill>
                  <a:srgbClr val="FFB703"/>
                </a:solidFill>
              </a:defRPr>
            </a:pPr>
            <a:r>
              <a:t>• AI-Assisted Software Engineering: </a:t>
            </a:r>
            <a:r>
              <a:rPr b="0">
                <a:solidFill>
                  <a:srgbClr val="FFFFFF"/>
                </a:solidFill>
              </a:rPr>
              <a:t>LLMs significantly accelerate pattern refactoring and boilerplate generation, but automated test suites and human code audits are mandatory to eliminate subtle hallucinations.</a:t>
            </a:r>
          </a:p>
          <a:p/>
          <a:p>
            <a:pPr>
              <a:defRPr sz="1100" b="1">
                <a:solidFill>
                  <a:srgbClr val="FFB703"/>
                </a:solidFill>
              </a:defRPr>
            </a:pPr>
            <a:r>
              <a:t>• Final Case Study Conclusion: </a:t>
            </a:r>
            <a:r>
              <a:rPr b="0">
                <a:solidFill>
                  <a:srgbClr val="FFFFFF"/>
                </a:solidFill>
              </a:rPr>
              <a:t>The case study successfully demonstrates pattern discovery in Next.js, 3-scenario architectural evolution, and complete 4-language empirical evaluation.</a:t>
            </a:r>
          </a:p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solidFill>
            <a:srgbClr val="131F3E"/>
          </a:solidFill>
          <a:ln w="12700">
            <a:solidFill>
              <a:srgbClr val="2B41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000" b="1">
                <a:solidFill>
                  <a:srgbClr val="00B4D8"/>
                </a:solidFill>
              </a:defRPr>
            </a:pPr>
            <a:r>
              <a:t>DESIGN PATTERNS CASE STUDY | TEAM B2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Team Contributions, Repository References &amp; Q&amp;A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1000">
                <a:solidFill>
                  <a:srgbClr val="8D99AE"/>
                </a:solidFill>
              </a:defRPr>
            </a:pPr>
            <a:r>
              <a:t>Healthcare Doctor Appointment Management System — Next.js &amp; Cross-Language Analysis   |   Slide 12 of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480560"/>
          </a:xfrm>
          <a:prstGeom prst="roundRect">
            <a:avLst/>
          </a:prstGeom>
          <a:solidFill>
            <a:srgbClr val="131F3E"/>
          </a:solidFill>
          <a:ln w="19050">
            <a:solidFill>
              <a:srgbClr val="2B41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400" b="1">
                <a:solidFill>
                  <a:srgbClr val="00B4D8"/>
                </a:solidFill>
              </a:defRPr>
            </a:pPr>
            <a:r>
              <a:t>TEAM B2 CONTRIBUTIONS</a:t>
            </a:r>
          </a:p>
          <a:p>
            <a:pPr>
              <a:defRPr sz="1100" b="1">
                <a:solidFill>
                  <a:srgbClr val="FFB703"/>
                </a:solidFill>
              </a:defRPr>
            </a:pPr>
            <a:r>
              <a:t>• Kartheek: </a:t>
            </a:r>
            <a:r>
              <a:rPr b="0">
                <a:solidFill>
                  <a:srgbClr val="FFFFFF"/>
                </a:solidFill>
              </a:rPr>
              <a:t>Part 3 Command &amp; State implementations, C++ WSL toolchain integration, cross-language benchmark suite.</a:t>
            </a:r>
          </a:p>
          <a:p>
            <a:pPr>
              <a:defRPr sz="1100" b="1">
                <a:solidFill>
                  <a:srgbClr val="FFB703"/>
                </a:solidFill>
              </a:defRPr>
            </a:pPr>
            <a:r>
              <a:t>• Aswathy Mohan: </a:t>
            </a:r>
            <a:r>
              <a:rPr b="0">
                <a:solidFill>
                  <a:srgbClr val="FFFFFF"/>
                </a:solidFill>
              </a:rPr>
              <a:t>Part 2 Evolution scenarios (Adapter, Strategy, Observer), availability engine, test suite design.</a:t>
            </a:r>
          </a:p>
          <a:p>
            <a:pPr>
              <a:defRPr sz="1100" b="1">
                <a:solidFill>
                  <a:srgbClr val="FFB703"/>
                </a:solidFill>
              </a:defRPr>
            </a:pPr>
            <a:r>
              <a:t>• Arnob: </a:t>
            </a:r>
            <a:r>
              <a:rPr b="0">
                <a:solidFill>
                  <a:srgbClr val="FFFFFF"/>
                </a:solidFill>
              </a:rPr>
              <a:t>Baseline Next.js repository analysis, Part 1 pattern discovery &amp; empirical code auditing.</a:t>
            </a:r>
          </a:p>
          <a:p>
            <a:pPr>
              <a:defRPr sz="1100" b="1">
                <a:solidFill>
                  <a:srgbClr val="FFB703"/>
                </a:solidFill>
              </a:defRPr>
            </a:pPr>
            <a:r>
              <a:t>• Team B2: </a:t>
            </a:r>
            <a:r>
              <a:rPr b="0">
                <a:solidFill>
                  <a:srgbClr val="FFFFFF"/>
                </a:solidFill>
              </a:rPr>
              <a:t>CSV dataset consolidation, slide deck creation, PDF export verification, and final submission audit.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42255" cy="4480560"/>
          </a:xfrm>
          <a:prstGeom prst="roundRect">
            <a:avLst/>
          </a:prstGeom>
          <a:solidFill>
            <a:srgbClr val="131F3E"/>
          </a:solidFill>
          <a:ln w="19050">
            <a:solidFill>
              <a:srgbClr val="2B41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400" b="1">
                <a:solidFill>
                  <a:srgbClr val="2EC4B6"/>
                </a:solidFill>
              </a:defRPr>
            </a:pPr>
            <a:r>
              <a:t>REPOSITORIES &amp; REFERENCES</a:t>
            </a:r>
          </a:p>
          <a:p>
            <a:pPr>
              <a:defRPr sz="1050" b="1">
                <a:solidFill>
                  <a:srgbClr val="FFB703"/>
                </a:solidFill>
              </a:defRPr>
            </a:pPr>
            <a:r>
              <a:t>• Team Case Study Repo: </a:t>
            </a:r>
            <a:r>
              <a:rPr b="0">
                <a:solidFill>
                  <a:srgbClr val="FFFFFF"/>
                </a:solidFill>
              </a:rPr>
              <a:t>https://github.com/Kartheek-3/B2</a:t>
            </a:r>
          </a:p>
          <a:p>
            <a:pPr>
              <a:defRPr sz="1050" b="1">
                <a:solidFill>
                  <a:srgbClr val="FFB703"/>
                </a:solidFill>
              </a:defRPr>
            </a:pPr>
            <a:r>
              <a:t>• Original Application: </a:t>
            </a:r>
            <a:r>
              <a:rPr b="0">
                <a:solidFill>
                  <a:srgbClr val="FFFFFF"/>
                </a:solidFill>
              </a:rPr>
              <a:t>arnobt78/HealthCare-Doctor-Appointment-Management-System--NextJS-FullStack</a:t>
            </a:r>
          </a:p>
          <a:p>
            <a:pPr>
              <a:defRPr sz="1050" b="1">
                <a:solidFill>
                  <a:srgbClr val="FFB703"/>
                </a:solidFill>
              </a:defRPr>
            </a:pPr>
            <a:r>
              <a:t>• Baseline Commit: </a:t>
            </a:r>
            <a:r>
              <a:rPr b="0">
                <a:solidFill>
                  <a:srgbClr val="FFFFFF"/>
                </a:solidFill>
              </a:rPr>
              <a:t>f846cd4c476d48a04fcaeb530b48a77c5295bb92</a:t>
            </a:r>
          </a:p>
          <a:p>
            <a:pPr>
              <a:defRPr sz="1050" b="1">
                <a:solidFill>
                  <a:srgbClr val="FFB703"/>
                </a:solidFill>
              </a:defRPr>
            </a:pPr>
            <a:r>
              <a:t>• Assignment Rubric: </a:t>
            </a:r>
            <a:r>
              <a:rPr b="0">
                <a:solidFill>
                  <a:srgbClr val="FFFFFF"/>
                </a:solidFill>
              </a:rPr>
              <a:t>DP_Csestudy(1).pdf &amp; DP_Csestudy(1)(1).pdf</a:t>
            </a:r>
          </a:p>
          <a:p>
            <a:pPr>
              <a:defRPr sz="1050" b="1">
                <a:solidFill>
                  <a:srgbClr val="FFB703"/>
                </a:solidFill>
              </a:defRPr>
            </a:pPr>
            <a:r>
              <a:t>• Canonical Dataset: </a:t>
            </a:r>
            <a:r>
              <a:rPr b="0">
                <a:solidFill>
                  <a:srgbClr val="FFFFFF"/>
                </a:solidFill>
              </a:rPr>
              <a:t>Part3/llm/pattern_crosslanguage.csv</a:t>
            </a:r>
          </a:p>
          <a:p/>
          <a:p>
            <a:pPr>
              <a:defRPr sz="1600" b="1">
                <a:solidFill>
                  <a:srgbClr val="00B4D8"/>
                </a:solidFill>
              </a:defRPr>
            </a:pPr>
            <a:r>
              <a:t>THANK YOU! 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